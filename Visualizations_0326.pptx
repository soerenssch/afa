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  <a:srgbClr val="595959"/>
    <a:srgbClr val="D9D9D9"/>
    <a:srgbClr val="FFFFFF"/>
    <a:srgbClr val="A6A6A6"/>
    <a:srgbClr val="1F1A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631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14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891EEE-E4EE-452A-A837-4EF942A85B79}" type="datetimeFigureOut">
              <a:rPr lang="en-DE" smtClean="0"/>
              <a:t>16/04/2026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C6CD55-81DF-4A4B-89BD-BEA52D37615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40838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FE009-1BF8-8FE6-F71B-46B73434ED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D1FBF8-BD07-B074-B188-E2E6DD83A2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6FC06-C5F5-DDD8-87B2-410E4785F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89BCF-B795-407C-85E1-33A479E903E1}" type="datetimeFigureOut">
              <a:rPr lang="en-DE" smtClean="0"/>
              <a:t>16/04/2026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84DDD-D28C-2069-D90A-73440244E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93BA3-ED75-FD1D-D8A4-EB098A304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CC4C7-9201-4328-889D-180D68EC05C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22540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EEE13-6B0B-82F6-CF8B-0D79E230A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545E5-EDFD-DB8F-FC6E-E5D09C249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C168C-A069-EFAA-3045-FAD004BF0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89BCF-B795-407C-85E1-33A479E903E1}" type="datetimeFigureOut">
              <a:rPr lang="en-DE" smtClean="0"/>
              <a:t>16/04/2026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B6E4F-6E7A-120F-4B29-4FB27128C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7EC41-6C22-D3E5-F0C2-D06755655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CC4C7-9201-4328-889D-180D68EC05C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84453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33394-4590-0644-6C37-8648E19AB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00EE95-244E-BCEA-1B31-FD45A6097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B1299-715C-08D6-0F6B-2C006204A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89BCF-B795-407C-85E1-33A479E903E1}" type="datetimeFigureOut">
              <a:rPr lang="en-DE" smtClean="0"/>
              <a:t>16/04/2026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ED204-4DE9-2F3C-879C-F3E271E57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83A9C-15E7-4227-47D3-78386FE89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CC4C7-9201-4328-889D-180D68EC05C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88991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9911C-F497-0D91-FF59-4E74A8B40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01A7B-D600-F46C-6D67-732EFB1211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32F4DE-C17B-03E7-16EF-BB49966295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E1E538-CFDC-1349-4324-5E8FC34C0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89BCF-B795-407C-85E1-33A479E903E1}" type="datetimeFigureOut">
              <a:rPr lang="en-DE" smtClean="0"/>
              <a:t>16/04/2026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F061B6-60F5-9B8C-6CD6-4DA403119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06FD79-44F9-72FF-D51F-AE686DC32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CC4C7-9201-4328-889D-180D68EC05C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51886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A6E9E-34A0-E1AE-B345-96BB868C1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9FCB8B-2412-C33E-D4E0-3B2C3BFAD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20F21B-4749-B836-8DB7-3162076903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B41DFC-87A3-B2A6-296B-245F697BA3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3321D4-7ABB-363A-FC55-ECFDF3188D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10CFAA-16CD-EA81-BE4A-301CDE470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89BCF-B795-407C-85E1-33A479E903E1}" type="datetimeFigureOut">
              <a:rPr lang="en-DE" smtClean="0"/>
              <a:t>16/04/2026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6B2A29-55AA-49E4-C843-5A4631368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20900C-C3DB-4C5E-E259-CE4FE9C78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CC4C7-9201-4328-889D-180D68EC05C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05377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14A6C-306C-005B-1651-C57ED9F6D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76A28E-D2CE-0237-432E-BF3C96515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89BCF-B795-407C-85E1-33A479E903E1}" type="datetimeFigureOut">
              <a:rPr lang="en-DE" smtClean="0"/>
              <a:t>16/04/2026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6BD7C6-CD4D-DF6B-4071-4CBFBEA9F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D34BD2-C103-7DBB-7615-49ECEA8D6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CC4C7-9201-4328-889D-180D68EC05C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70231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EB6DDF-D6C0-E842-77D8-B5D01B039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89BCF-B795-407C-85E1-33A479E903E1}" type="datetimeFigureOut">
              <a:rPr lang="en-DE" smtClean="0"/>
              <a:t>16/04/2026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404603-C893-7F48-7050-3304239A1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B93133-4C05-1EAD-7464-985243F2C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CC4C7-9201-4328-889D-180D68EC05C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69185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D49FF-30C6-58D2-AD94-97E12C0B0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0D9D5-F968-677D-A45F-58B15AA78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4FFB3C-BD4E-E525-EDD4-7C7E69107D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E710F9-35B2-457A-0F11-3D5372BA2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89BCF-B795-407C-85E1-33A479E903E1}" type="datetimeFigureOut">
              <a:rPr lang="en-DE" smtClean="0"/>
              <a:t>16/04/2026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3D3613-5960-4BB2-8383-C21FC2C62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4A19E8-9548-9A8A-FAC5-5D1F3A8B0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CC4C7-9201-4328-889D-180D68EC05C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22021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FD41D-F9F3-A637-23BC-4394CF893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6626ED-792C-2DA4-D347-FCD97320BB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0C6349-456C-68B2-A1E0-63DB0FC532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50E8FF-D33D-A74E-21AA-9A26EF486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89BCF-B795-407C-85E1-33A479E903E1}" type="datetimeFigureOut">
              <a:rPr lang="en-DE" smtClean="0"/>
              <a:t>16/04/2026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272F4-622D-1069-E24D-7B866241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640162-3596-791F-3395-3D73BD554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CC4C7-9201-4328-889D-180D68EC05C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14374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01161-0064-168F-7ED2-6A0787844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B096DF-CF94-8177-AAB7-DFDBC4856E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61FD7-64E6-F9C6-028B-50D728D04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89BCF-B795-407C-85E1-33A479E903E1}" type="datetimeFigureOut">
              <a:rPr lang="en-DE" smtClean="0"/>
              <a:t>16/04/2026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8063C-CA51-EECA-3399-5B28C2290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8EC7E-A4E5-B3DC-255F-E0CD45546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CC4C7-9201-4328-889D-180D68EC05C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00981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34463D-56A4-4D39-A280-AE542C6CAE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EE7449-1C68-365B-DB20-A7986E7763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1E9CC-86AB-C636-E717-729D37970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89BCF-B795-407C-85E1-33A479E903E1}" type="datetimeFigureOut">
              <a:rPr lang="en-DE" smtClean="0"/>
              <a:t>16/04/2026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48651-5935-AD7B-04C8-9FB9168D8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DE5A8-1CAF-6BB1-F002-19CF3E09E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CC4C7-9201-4328-889D-180D68EC05C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80660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CC8F8E-98A8-7639-1D7F-8B3560894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1439F4-E5C5-2DBF-D676-313CDE720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FCB1A-693A-6503-2D21-C236C404FE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289BCF-B795-407C-85E1-33A479E903E1}" type="datetimeFigureOut">
              <a:rPr lang="en-DE" smtClean="0"/>
              <a:t>16/04/2026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AC0E6-8ADE-2D11-F5D4-E275B3A6E1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B2F02-E385-1814-C16D-117AAE2625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CC4C7-9201-4328-889D-180D68EC05C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44064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311B4-D34C-1A64-A618-7670DE501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31D5A443-82D0-ADB5-2F5F-253CBDC6EC14}"/>
              </a:ext>
            </a:extLst>
          </p:cNvPr>
          <p:cNvGrpSpPr/>
          <p:nvPr/>
        </p:nvGrpSpPr>
        <p:grpSpPr>
          <a:xfrm>
            <a:off x="1491707" y="965087"/>
            <a:ext cx="7345112" cy="4657044"/>
            <a:chOff x="1491707" y="965087"/>
            <a:chExt cx="7345112" cy="4657044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F331A49-CE9D-1CA0-AABD-CE2CBB541732}"/>
                </a:ext>
              </a:extLst>
            </p:cNvPr>
            <p:cNvSpPr/>
            <p:nvPr/>
          </p:nvSpPr>
          <p:spPr>
            <a:xfrm>
              <a:off x="1491707" y="965087"/>
              <a:ext cx="7345112" cy="46570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F00FB3FF-2F36-5CB3-C345-37EFF3D5E9BE}"/>
                </a:ext>
              </a:extLst>
            </p:cNvPr>
            <p:cNvGrpSpPr/>
            <p:nvPr/>
          </p:nvGrpSpPr>
          <p:grpSpPr>
            <a:xfrm>
              <a:off x="1491707" y="965087"/>
              <a:ext cx="7319484" cy="4527262"/>
              <a:chOff x="1491707" y="965087"/>
              <a:chExt cx="7319484" cy="4527262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FE2117A-A6FF-E52C-0550-3B816DDB3A39}"/>
                  </a:ext>
                </a:extLst>
              </p:cNvPr>
              <p:cNvSpPr/>
              <p:nvPr/>
            </p:nvSpPr>
            <p:spPr>
              <a:xfrm>
                <a:off x="1491707" y="965087"/>
                <a:ext cx="7319483" cy="42076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DE" sz="1200" b="1" noProof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Phase 1:</a:t>
                </a:r>
              </a:p>
              <a:p>
                <a:pPr algn="ctr"/>
                <a:r>
                  <a:rPr lang="en-DE" sz="1200" b="1" noProof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 Assembly</a:t>
                </a:r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B9F82FA-9EF6-D2DB-9A1D-D6710612173E}"/>
                  </a:ext>
                </a:extLst>
              </p:cNvPr>
              <p:cNvSpPr/>
              <p:nvPr/>
            </p:nvSpPr>
            <p:spPr>
              <a:xfrm>
                <a:off x="1491708" y="2515280"/>
                <a:ext cx="7319483" cy="42076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DE" sz="1200" b="1" noProof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Phase 2:</a:t>
                </a:r>
              </a:p>
              <a:p>
                <a:pPr algn="ctr"/>
                <a:r>
                  <a:rPr lang="en-DE" sz="1200" b="1" noProof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Computational Topic Modeling</a:t>
                </a: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1B42725-CF1E-4A64-B6A3-00016EA06EB0}"/>
                  </a:ext>
                </a:extLst>
              </p:cNvPr>
              <p:cNvSpPr/>
              <p:nvPr/>
            </p:nvSpPr>
            <p:spPr>
              <a:xfrm>
                <a:off x="1491708" y="4186919"/>
                <a:ext cx="7319483" cy="42076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DE" sz="1200" b="1" noProof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Phase 3:</a:t>
                </a:r>
              </a:p>
              <a:p>
                <a:pPr algn="ctr"/>
                <a:r>
                  <a:rPr lang="en-GB" sz="1200" b="1" noProof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AI-assisted </a:t>
                </a:r>
                <a:r>
                  <a:rPr lang="en-DE" sz="1200" b="1" noProof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Topic Labeling and Validation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643A59B-ECBA-B104-4814-6F47D091FFA0}"/>
                  </a:ext>
                </a:extLst>
              </p:cNvPr>
              <p:cNvSpPr/>
              <p:nvPr/>
            </p:nvSpPr>
            <p:spPr>
              <a:xfrm>
                <a:off x="2844956" y="1452885"/>
                <a:ext cx="1748347" cy="78448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DE" sz="1100" b="1" noProof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Corpus Definition and Journal Selection</a:t>
                </a:r>
              </a:p>
              <a:p>
                <a:r>
                  <a:rPr lang="en-DE" sz="1100" noProof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Scopus + 3 Journals </a:t>
                </a:r>
                <a:br>
                  <a:rPr lang="en-DE" sz="1100" noProof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DE" sz="1100" noProof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(MAR, JMAR, JOMAC)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FE70DF9-9AE3-AB33-78DC-96D9FD5ED376}"/>
                  </a:ext>
                </a:extLst>
              </p:cNvPr>
              <p:cNvSpPr/>
              <p:nvPr/>
            </p:nvSpPr>
            <p:spPr>
              <a:xfrm>
                <a:off x="5903236" y="1452885"/>
                <a:ext cx="1748347" cy="78448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DE" sz="1100" b="1" noProof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Article Retrieval and Sample Finalization</a:t>
                </a:r>
              </a:p>
              <a:p>
                <a:r>
                  <a:rPr lang="en-DE" sz="1100" noProof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315 records retrieved, 314 articles</a:t>
                </a:r>
              </a:p>
            </p:txBody>
          </p: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07795C38-2688-209B-1B54-82C71214CDB9}"/>
                  </a:ext>
                </a:extLst>
              </p:cNvPr>
              <p:cNvCxnSpPr>
                <a:cxnSpLocks/>
                <a:stCxn id="16" idx="3"/>
                <a:endCxn id="8" idx="1"/>
              </p:cNvCxnSpPr>
              <p:nvPr/>
            </p:nvCxnSpPr>
            <p:spPr>
              <a:xfrm>
                <a:off x="4593303" y="1845128"/>
                <a:ext cx="1309933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5D6DC432-9AFD-B569-49EB-F96E105D8DCC}"/>
                  </a:ext>
                </a:extLst>
              </p:cNvPr>
              <p:cNvSpPr/>
              <p:nvPr/>
            </p:nvSpPr>
            <p:spPr>
              <a:xfrm>
                <a:off x="2620420" y="1430645"/>
                <a:ext cx="252000" cy="252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DE" sz="1100" b="1" noProof="1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BB8D43B4-292D-0255-A9F0-730004380EB6}"/>
                  </a:ext>
                </a:extLst>
              </p:cNvPr>
              <p:cNvSpPr/>
              <p:nvPr/>
            </p:nvSpPr>
            <p:spPr>
              <a:xfrm>
                <a:off x="5675703" y="1430645"/>
                <a:ext cx="252000" cy="252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DE" sz="1100" b="1" noProof="1">
                    <a:solidFill>
                      <a:schemeClr val="tx1"/>
                    </a:solidFill>
                  </a:rPr>
                  <a:t>2</a:t>
                </a:r>
              </a:p>
            </p:txBody>
          </p: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C649A8C9-B180-A320-0263-558A4709AC59}"/>
                  </a:ext>
                </a:extLst>
              </p:cNvPr>
              <p:cNvGrpSpPr/>
              <p:nvPr/>
            </p:nvGrpSpPr>
            <p:grpSpPr>
              <a:xfrm>
                <a:off x="1685350" y="3042351"/>
                <a:ext cx="7125840" cy="784486"/>
                <a:chOff x="1743693" y="3137469"/>
                <a:chExt cx="7125840" cy="784486"/>
              </a:xfrm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C2CD90D5-8EDD-F6CC-AFC6-605C7EB0CFB6}"/>
                    </a:ext>
                  </a:extLst>
                </p:cNvPr>
                <p:cNvSpPr/>
                <p:nvPr/>
              </p:nvSpPr>
              <p:spPr>
                <a:xfrm>
                  <a:off x="1743693" y="3137469"/>
                  <a:ext cx="1748347" cy="78448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DE" sz="1100" b="1" noProof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Text Pre-Processing</a:t>
                  </a:r>
                </a:p>
                <a:p>
                  <a:r>
                    <a:rPr lang="de-DE" sz="1100" noProof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Cleaned abstracts + </a:t>
                  </a:r>
                  <a:br>
                    <a:rPr lang="de-DE" sz="1100" noProof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</a:br>
                  <a:r>
                    <a:rPr lang="de-DE" sz="1100" noProof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title-abstract input</a:t>
                  </a:r>
                  <a:endParaRPr lang="en-DE" sz="1100" noProof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46B2BA18-683C-FD4A-30F2-9D0FB521FACF}"/>
                    </a:ext>
                  </a:extLst>
                </p:cNvPr>
                <p:cNvSpPr/>
                <p:nvPr/>
              </p:nvSpPr>
              <p:spPr>
                <a:xfrm>
                  <a:off x="4432440" y="3137469"/>
                  <a:ext cx="1748347" cy="78448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DE" sz="1100" b="1" noProof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Embedding and UMAP Reduction</a:t>
                  </a:r>
                </a:p>
                <a:p>
                  <a:r>
                    <a:rPr lang="en-DE" sz="1100" noProof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Embeddings cached and UMAP to 5 dimensions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EC6D6EDF-FA8C-7F5F-8776-5343080811CB}"/>
                    </a:ext>
                  </a:extLst>
                </p:cNvPr>
                <p:cNvSpPr/>
                <p:nvPr/>
              </p:nvSpPr>
              <p:spPr>
                <a:xfrm>
                  <a:off x="7121186" y="3137469"/>
                  <a:ext cx="1748347" cy="78448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DE" sz="1100" b="1" noProof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BERTopic Tuning and Final Estimation</a:t>
                  </a:r>
                </a:p>
                <a:p>
                  <a:r>
                    <a:rPr lang="en-DE" sz="1100" noProof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Best model with minimized noise and 11 clusters</a:t>
                  </a:r>
                </a:p>
              </p:txBody>
            </p:sp>
          </p:grp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93584983-F9B0-EF04-D3D8-5FC3C0F5E8D1}"/>
                  </a:ext>
                </a:extLst>
              </p:cNvPr>
              <p:cNvCxnSpPr>
                <a:cxnSpLocks/>
                <a:stCxn id="11" idx="3"/>
                <a:endCxn id="13" idx="1"/>
              </p:cNvCxnSpPr>
              <p:nvPr/>
            </p:nvCxnSpPr>
            <p:spPr>
              <a:xfrm>
                <a:off x="3433697" y="3434594"/>
                <a:ext cx="94040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2BB7F72-78C6-D4F8-23FF-1BBC54E0F16B}"/>
                  </a:ext>
                </a:extLst>
              </p:cNvPr>
              <p:cNvCxnSpPr>
                <a:cxnSpLocks/>
                <a:stCxn id="13" idx="3"/>
                <a:endCxn id="14" idx="1"/>
              </p:cNvCxnSpPr>
              <p:nvPr/>
            </p:nvCxnSpPr>
            <p:spPr>
              <a:xfrm>
                <a:off x="6122444" y="3434594"/>
                <a:ext cx="940399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2CF40966-21B2-82D6-92B5-1082728C5A2A}"/>
                  </a:ext>
                </a:extLst>
              </p:cNvPr>
              <p:cNvSpPr/>
              <p:nvPr/>
            </p:nvSpPr>
            <p:spPr>
              <a:xfrm>
                <a:off x="1491707" y="2980838"/>
                <a:ext cx="252000" cy="252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DE" sz="1100" b="1" noProof="1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1F4F363E-CC1A-A32D-AAE1-4BDA01E09305}"/>
                  </a:ext>
                </a:extLst>
              </p:cNvPr>
              <p:cNvSpPr/>
              <p:nvPr/>
            </p:nvSpPr>
            <p:spPr>
              <a:xfrm>
                <a:off x="4189803" y="2980838"/>
                <a:ext cx="252000" cy="252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DE" sz="1100" b="1" noProof="1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A756D4E3-62B4-5130-538A-603C1693C4D8}"/>
                  </a:ext>
                </a:extLst>
              </p:cNvPr>
              <p:cNvSpPr/>
              <p:nvPr/>
            </p:nvSpPr>
            <p:spPr>
              <a:xfrm>
                <a:off x="6872401" y="2980838"/>
                <a:ext cx="252000" cy="252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DE" sz="1100" b="1" noProof="1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C5D9BA5-F743-5DA7-431E-0E526073383B}"/>
                  </a:ext>
                </a:extLst>
              </p:cNvPr>
              <p:cNvSpPr/>
              <p:nvPr/>
            </p:nvSpPr>
            <p:spPr>
              <a:xfrm>
                <a:off x="5639983" y="4707863"/>
                <a:ext cx="1748347" cy="78448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DE" sz="1100" b="1" noProof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Manual Validation</a:t>
                </a:r>
              </a:p>
              <a:p>
                <a:r>
                  <a:rPr lang="en-DE" sz="1100" noProof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Review against assigned papers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BB5EF53-C699-E607-41C1-806DBCE06A03}"/>
                  </a:ext>
                </a:extLst>
              </p:cNvPr>
              <p:cNvSpPr/>
              <p:nvPr/>
            </p:nvSpPr>
            <p:spPr>
              <a:xfrm>
                <a:off x="3108210" y="4707863"/>
                <a:ext cx="1748347" cy="78448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DE" sz="1100" b="1" noProof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AI-Assisted Topic Labeling</a:t>
                </a:r>
              </a:p>
              <a:p>
                <a:r>
                  <a:rPr lang="en-DE" sz="1100" noProof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LLM labeling + manual review</a:t>
                </a:r>
              </a:p>
            </p:txBody>
          </p: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56ED401B-E6BE-5BCF-D768-415F7662BCE9}"/>
                  </a:ext>
                </a:extLst>
              </p:cNvPr>
              <p:cNvCxnSpPr>
                <a:cxnSpLocks/>
                <a:stCxn id="21" idx="3"/>
                <a:endCxn id="18" idx="1"/>
              </p:cNvCxnSpPr>
              <p:nvPr/>
            </p:nvCxnSpPr>
            <p:spPr>
              <a:xfrm>
                <a:off x="4856557" y="5100106"/>
                <a:ext cx="78342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A43A78D0-F620-E293-3B49-0BEC2F061D8B}"/>
                  </a:ext>
                </a:extLst>
              </p:cNvPr>
              <p:cNvSpPr/>
              <p:nvPr/>
            </p:nvSpPr>
            <p:spPr>
              <a:xfrm>
                <a:off x="2908420" y="4663071"/>
                <a:ext cx="252000" cy="252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DE" sz="1100" b="1" noProof="1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7AA32441-8EDB-92A4-E942-888A85F90ED2}"/>
                  </a:ext>
                </a:extLst>
              </p:cNvPr>
              <p:cNvSpPr/>
              <p:nvPr/>
            </p:nvSpPr>
            <p:spPr>
              <a:xfrm>
                <a:off x="5444451" y="4663071"/>
                <a:ext cx="252000" cy="252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DE" sz="1100" b="1" noProof="1">
                    <a:solidFill>
                      <a:schemeClr val="tx1"/>
                    </a:solidFill>
                  </a:rPr>
                  <a:t>7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21093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12167</TotalTime>
  <Words>100</Words>
  <Application>Microsoft Office PowerPoint</Application>
  <PresentationFormat>Widescreen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Sören Schlißke</dc:creator>
  <cp:lastModifiedBy>Schlisske, Soeren</cp:lastModifiedBy>
  <cp:revision>149</cp:revision>
  <dcterms:created xsi:type="dcterms:W3CDTF">2025-01-28T09:15:15Z</dcterms:created>
  <dcterms:modified xsi:type="dcterms:W3CDTF">2026-04-16T12:33:33Z</dcterms:modified>
</cp:coreProperties>
</file>